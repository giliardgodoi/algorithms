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Proxima Nova"/>
      <p:regular r:id="rId31"/>
      <p:bold r:id="rId32"/>
      <p:italic r:id="rId33"/>
      <p:boldItalic r:id="rId34"/>
    </p:embeddedFont>
    <p:embeddedFont>
      <p:font typeface="Proxima Nova Semibold"/>
      <p:regular r:id="rId35"/>
      <p:bold r:id="rId36"/>
      <p:boldItalic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592232-82BB-4C9E-93B2-E1A26DE5370E}">
  <a:tblStyle styleId="{F3592232-82BB-4C9E-93B2-E1A26DE537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roximaNova-italic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.fntdata"/><Relationship Id="rId13" Type="http://schemas.openxmlformats.org/officeDocument/2006/relationships/slide" Target="slides/slide7.xml"/><Relationship Id="rId35" Type="http://schemas.openxmlformats.org/officeDocument/2006/relationships/font" Target="fonts/ProximaNova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roximaNova-boldItalic.fntdata"/><Relationship Id="rId15" Type="http://schemas.openxmlformats.org/officeDocument/2006/relationships/slide" Target="slides/slide9.xml"/><Relationship Id="rId37" Type="http://schemas.openxmlformats.org/officeDocument/2006/relationships/font" Target="fonts/ProximaNova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roximaNovaSemibold-bold.fntdata"/><Relationship Id="rId17" Type="http://schemas.openxmlformats.org/officeDocument/2006/relationships/slide" Target="slides/slide11.xml"/><Relationship Id="rId39" Type="http://schemas.openxmlformats.org/officeDocument/2006/relationships/font" Target="fonts/Lexend-bold.fntdata"/><Relationship Id="rId16" Type="http://schemas.openxmlformats.org/officeDocument/2006/relationships/slide" Target="slides/slide10.xml"/><Relationship Id="rId38" Type="http://schemas.openxmlformats.org/officeDocument/2006/relationships/font" Target="fonts/Lexen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uggingface.co/blog/modernbert" TargetMode="External"/><Relationship Id="rId3" Type="http://schemas.openxmlformats.org/officeDocument/2006/relationships/hyperlink" Target="https://enkiai.com/modernbert-vs-bert-advantages-and-differences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dacaf179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dacaf179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dacaf179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dacaf179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ec0cf5e7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ec0cf5e7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ec0cf5e7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ec0cf5e7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dacaf179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dacaf179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17b91c2a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17b91c2a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17db560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17db560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7db5609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7db5609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17db5609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17db5609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17db560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17db560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dacaf179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dacaf179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dacaf179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dacaf179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dacaf179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dacaf179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dacaf179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dacaf179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17db560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17db560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dacaf179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dacaf179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dacaf179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dacaf179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Finally, a Replacement for BERT: Introducing ModernBERT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ModernBERT vs BERT: Key Differences and Advantages - EnkiAI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17db5609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17db560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0dbf199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0dbf199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dacaf179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dacaf179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17db5609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17db5609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17db5609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17db5609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17db5609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17db5609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400">
        <p:fade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vgodoy.github.io/dl-visuals/BERT/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s://dvgodoy.github.io/dl-visuals/BERT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hyperlink" Target="https://dvgodoy.github.io/dl-visuals/BERT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huggingface.co/pierreguillou/ner-bert-base-cased-pt-lenerbr" TargetMode="External"/><Relationship Id="rId4" Type="http://schemas.openxmlformats.org/officeDocument/2006/relationships/hyperlink" Target="https://link.springer.com/chapter/10.1007/978-3-030-98305-5_20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ink.springer.com/chapter/10.1007/978-3-030-61377-8_28" TargetMode="External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hyperlink" Target="https://dvgodoy.github.io/dl-visuals/BERT/" TargetMode="External"/><Relationship Id="rId10" Type="http://schemas.openxmlformats.org/officeDocument/2006/relationships/hyperlink" Target="https://dvgodoy.github.io/dl-visuals/BERT/" TargetMode="External"/><Relationship Id="rId13" Type="http://schemas.openxmlformats.org/officeDocument/2006/relationships/hyperlink" Target="https://www.microsoft.com/en-us/research/publication/deberta-decoding-enhanced-bert-with-disentangled-attention-2/" TargetMode="External"/><Relationship Id="rId12" Type="http://schemas.openxmlformats.org/officeDocument/2006/relationships/hyperlink" Target="https://www.microsoft.com/en-us/research/publication/deberta-decoding-enhanced-bert-with-disentangled-attention-2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jalammar.github.io/a-visual-guide-to-using-bert-for-the-first-time/" TargetMode="External"/><Relationship Id="rId4" Type="http://schemas.openxmlformats.org/officeDocument/2006/relationships/hyperlink" Target="https://jalammar.github.io/a-visual-guide-to-using-bert-for-the-first-time/" TargetMode="External"/><Relationship Id="rId9" Type="http://schemas.openxmlformats.org/officeDocument/2006/relationships/hyperlink" Target="https://aclanthology.org/2023.ranlp-1.24/" TargetMode="External"/><Relationship Id="rId5" Type="http://schemas.openxmlformats.org/officeDocument/2006/relationships/hyperlink" Target="https://jalammar.github.io/illustrated-bert/" TargetMode="External"/><Relationship Id="rId6" Type="http://schemas.openxmlformats.org/officeDocument/2006/relationships/hyperlink" Target="https://jalammar.github.io/illustrated-bert/" TargetMode="External"/><Relationship Id="rId7" Type="http://schemas.openxmlformats.org/officeDocument/2006/relationships/hyperlink" Target="https://aclanthology.org/2023.ranlp-1.24/" TargetMode="External"/><Relationship Id="rId8" Type="http://schemas.openxmlformats.org/officeDocument/2006/relationships/hyperlink" Target="https://aclanthology.org/2023.ranlp-1.24/" TargetMode="External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hyperlink" Target="http://arxiv.org/abs/1908.10084" TargetMode="External"/><Relationship Id="rId10" Type="http://schemas.openxmlformats.org/officeDocument/2006/relationships/hyperlink" Target="http://arxiv.org/abs/1908.10084" TargetMode="External"/><Relationship Id="rId13" Type="http://schemas.openxmlformats.org/officeDocument/2006/relationships/hyperlink" Target="https://doi.org/10.1007/978-3-031-79032-4_2" TargetMode="External"/><Relationship Id="rId12" Type="http://schemas.openxmlformats.org/officeDocument/2006/relationships/hyperlink" Target="https://doi.org/10.1007/978-3-031-79032-4_2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i.org/10.1093/bioinformatics/btz682" TargetMode="External"/><Relationship Id="rId4" Type="http://schemas.openxmlformats.org/officeDocument/2006/relationships/hyperlink" Target="https://doi.org/10.1093/bioinformatics/btz682" TargetMode="External"/><Relationship Id="rId9" Type="http://schemas.openxmlformats.org/officeDocument/2006/relationships/hyperlink" Target="http://arxiv.org/abs/1908.10084" TargetMode="External"/><Relationship Id="rId15" Type="http://schemas.openxmlformats.org/officeDocument/2006/relationships/hyperlink" Target="https://doi.org/10.1007/978-3-031-45392-2_18" TargetMode="External"/><Relationship Id="rId14" Type="http://schemas.openxmlformats.org/officeDocument/2006/relationships/hyperlink" Target="https://doi.org/10.1007/978-3-031-79032-4_2" TargetMode="External"/><Relationship Id="rId17" Type="http://schemas.openxmlformats.org/officeDocument/2006/relationships/hyperlink" Target="https://doi.org/10.1007/978-3-031-45392-2_18" TargetMode="External"/><Relationship Id="rId16" Type="http://schemas.openxmlformats.org/officeDocument/2006/relationships/hyperlink" Target="https://doi.org/10.1007/978-3-031-45392-2_18" TargetMode="External"/><Relationship Id="rId5" Type="http://schemas.openxmlformats.org/officeDocument/2006/relationships/hyperlink" Target="https://doi.org/10.1093/bioinformatics/btz682" TargetMode="External"/><Relationship Id="rId19" Type="http://schemas.openxmlformats.org/officeDocument/2006/relationships/hyperlink" Target="https://doi.org/10.1007/978-3-030-61377-8_28" TargetMode="External"/><Relationship Id="rId6" Type="http://schemas.openxmlformats.org/officeDocument/2006/relationships/hyperlink" Target="https://arxiv.org/abs/1907.11692" TargetMode="External"/><Relationship Id="rId18" Type="http://schemas.openxmlformats.org/officeDocument/2006/relationships/hyperlink" Target="https://doi.org/10.1007/978-3-030-61377-8_28" TargetMode="External"/><Relationship Id="rId7" Type="http://schemas.openxmlformats.org/officeDocument/2006/relationships/hyperlink" Target="https://arxiv.org/abs/1907.11692" TargetMode="External"/><Relationship Id="rId8" Type="http://schemas.openxmlformats.org/officeDocument/2006/relationships/hyperlink" Target="https://arxiv.org/abs/1907.11692" TargetMode="External"/></Relationships>
</file>

<file path=ppt/slides/_rels/slide24.xml.rels><?xml version="1.0" encoding="UTF-8" standalone="yes"?><Relationships xmlns="http://schemas.openxmlformats.org/package/2006/relationships"><Relationship Id="rId10" Type="http://schemas.openxmlformats.org/officeDocument/2006/relationships/hyperlink" Target="https://arxiv.org/abs/2412.13663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i.org/10.1007/978-3-030-98305-5_20" TargetMode="External"/><Relationship Id="rId4" Type="http://schemas.openxmlformats.org/officeDocument/2006/relationships/hyperlink" Target="https://doi.org/10.1007/978-3-030-98305-5_20" TargetMode="External"/><Relationship Id="rId9" Type="http://schemas.openxmlformats.org/officeDocument/2006/relationships/hyperlink" Target="https://arxiv.org/abs/2412.13663" TargetMode="External"/><Relationship Id="rId5" Type="http://schemas.openxmlformats.org/officeDocument/2006/relationships/hyperlink" Target="https://doi.org/10.1007/978-3-030-98305-5_20" TargetMode="External"/><Relationship Id="rId6" Type="http://schemas.openxmlformats.org/officeDocument/2006/relationships/hyperlink" Target="https://arxiv.org/abs/1706.03762" TargetMode="External"/><Relationship Id="rId7" Type="http://schemas.openxmlformats.org/officeDocument/2006/relationships/hyperlink" Target="https://arxiv.org/abs/1706.03762" TargetMode="External"/><Relationship Id="rId8" Type="http://schemas.openxmlformats.org/officeDocument/2006/relationships/hyperlink" Target="https://arxiv.org/abs/1706.0376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34650" y="1882500"/>
            <a:ext cx="8123100" cy="8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BERT’s family model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584000"/>
            <a:ext cx="6123600" cy="12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pt-BR" sz="1400"/>
              <a:t>Grupo </a:t>
            </a:r>
            <a:r>
              <a:rPr lang="pt-BR" sz="1200">
                <a:solidFill>
                  <a:srgbClr val="FFFFFF"/>
                </a:solidFill>
              </a:rPr>
              <a:t>N° 6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pt-BR" sz="1400"/>
              <a:t>Domingos Samanjata - Nro. USP 16054765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pt-BR" sz="1400"/>
              <a:t>Giliard Almeida de Godoi - Nro. USP 12219420</a:t>
            </a:r>
            <a:endParaRPr sz="14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pt-BR" sz="1400"/>
              <a:t>Pedro Lucas Castro de Andrade - Nro. USP 11212289</a:t>
            </a:r>
            <a:endParaRPr sz="14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00" y="1800750"/>
            <a:ext cx="2005726" cy="33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2202350" y="0"/>
            <a:ext cx="69417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rgbClr val="F3F3F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UNIVERSIDADE DE SÃO PAULO - ICMC</a:t>
            </a:r>
            <a:br>
              <a:rPr lang="pt-BR" sz="2900">
                <a:solidFill>
                  <a:srgbClr val="F3F3F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pt-BR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Departamento de Ciências de Computação</a:t>
            </a:r>
            <a:br>
              <a:rPr lang="pt-BR" sz="19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</a:br>
            <a:r>
              <a:rPr lang="pt-BR" sz="1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Seminário da disciplina SCC5871 – Aprendizado de Máquina</a:t>
            </a:r>
            <a:endParaRPr sz="2900">
              <a:solidFill>
                <a:srgbClr val="F3F3F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8600"/>
            <a:ext cx="2202351" cy="99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998500" y="47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Introduç</a:t>
            </a:r>
            <a:r>
              <a:rPr b="1" lang="pt-BR"/>
              <a:t>ão</a:t>
            </a:r>
            <a:endParaRPr b="1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22500" y="1042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pt-BR"/>
              <a:t>Modelos de linguagem antes do BERT</a:t>
            </a:r>
            <a:endParaRPr b="1"/>
          </a:p>
          <a:p>
            <a:pPr indent="-336127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pt-BR"/>
              <a:t>Word2Vec &amp; GloVe</a:t>
            </a:r>
            <a:endParaRPr/>
          </a:p>
          <a:p>
            <a:pPr indent="-336127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pt-BR"/>
              <a:t>LSTMs &amp; GRUs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pt-BR"/>
              <a:t>Novidade e Revoluç</a:t>
            </a:r>
            <a:r>
              <a:rPr b="1" lang="pt-BR"/>
              <a:t>ão do BERT</a:t>
            </a:r>
            <a:endParaRPr b="1"/>
          </a:p>
          <a:p>
            <a:pPr indent="-336128" lvl="0" marL="1792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MLM</a:t>
            </a:r>
            <a:endParaRPr/>
          </a:p>
          <a:p>
            <a:pPr indent="-336128" lvl="0" marL="1792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NSP</a:t>
            </a:r>
            <a:endParaRPr/>
          </a:p>
          <a:p>
            <a:pPr indent="-336128" lvl="0" marL="1792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Transfer Learning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b="1" lang="pt-BR"/>
              <a:t>Impacto do BERT</a:t>
            </a:r>
            <a:endParaRPr b="1"/>
          </a:p>
          <a:p>
            <a:pPr indent="-336128" lvl="0" marL="1720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Sistemas de busca</a:t>
            </a:r>
            <a:endParaRPr/>
          </a:p>
          <a:p>
            <a:pPr indent="-336128" lvl="0" marL="1720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Classificação de texto e AS</a:t>
            </a:r>
            <a:endParaRPr/>
          </a:p>
          <a:p>
            <a:pPr indent="-336128" lvl="0" marL="17208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pt-BR"/>
              <a:t>Inspiração de outros modelos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              </a:t>
            </a:r>
            <a:endParaRPr/>
          </a:p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Fonte: Vaswani et al. (2017)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27706" r="25076" t="0"/>
          <a:stretch/>
        </p:blipFill>
        <p:spPr>
          <a:xfrm>
            <a:off x="2972725" y="776000"/>
            <a:ext cx="3198541" cy="41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37550"/>
            <a:ext cx="8520600" cy="4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Arquitetura Transformer 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490250" y="526350"/>
            <a:ext cx="8055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/>
              <a:t>BERT</a:t>
            </a:r>
            <a:endParaRPr b="1"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Bidirectional Encoding Representations 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from Transformers 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Bidirectional Encoding Representations from Transformers - BERT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{F3592232-82BB-4C9E-93B2-E1A26DE5370E}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Arquitetura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BERT Base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</a:rPr>
                        <a:t>BERT Large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Camadas ou</a:t>
                      </a:r>
                      <a:br>
                        <a:rPr lang="pt-BR"/>
                      </a:br>
                      <a:r>
                        <a:rPr lang="pt-BR"/>
                        <a:t>Transformers blocks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Self-Attention Heads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16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Hidden State Layers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768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1024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Total de parâmetros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110 mil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340 mil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Camadas ou Transformers Blocks 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Fonte: Adaptado de Vaswani et al. (2017) e Alammar (2018) 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 amt="50000"/>
          </a:blip>
          <a:srcRect b="0" l="30795" r="50023" t="34747"/>
          <a:stretch/>
        </p:blipFill>
        <p:spPr>
          <a:xfrm>
            <a:off x="468000" y="2016000"/>
            <a:ext cx="1134050" cy="235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28724" l="30795" r="50023" t="34748"/>
          <a:stretch/>
        </p:blipFill>
        <p:spPr>
          <a:xfrm>
            <a:off x="468000" y="2016000"/>
            <a:ext cx="1134050" cy="131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5">
            <a:alphaModFix/>
          </a:blip>
          <a:srcRect b="0" l="14929" r="18893" t="0"/>
          <a:stretch/>
        </p:blipFill>
        <p:spPr>
          <a:xfrm>
            <a:off x="3871425" y="1128975"/>
            <a:ext cx="4541152" cy="2885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8"/>
          <p:cNvCxnSpPr/>
          <p:nvPr/>
        </p:nvCxnSpPr>
        <p:spPr>
          <a:xfrm>
            <a:off x="1602050" y="2675762"/>
            <a:ext cx="2471400" cy="357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" name="Google Shape;102;p18"/>
          <p:cNvCxnSpPr>
            <a:stCxn id="99" idx="3"/>
          </p:cNvCxnSpPr>
          <p:nvPr/>
        </p:nvCxnSpPr>
        <p:spPr>
          <a:xfrm>
            <a:off x="1602050" y="2675762"/>
            <a:ext cx="2449200" cy="726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Self-Attention heads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Fonte: Vaswani et al. (2017)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16833" r="0" t="0"/>
          <a:stretch/>
        </p:blipFill>
        <p:spPr>
          <a:xfrm>
            <a:off x="2972848" y="1170125"/>
            <a:ext cx="3910425" cy="314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Hidden states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Godoy (2019)  </a:t>
            </a:r>
            <a:r>
              <a:rPr lang="pt-BR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BERT | dl-visuals</a:t>
            </a:r>
            <a:endParaRPr sz="1000"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25" y="1321095"/>
            <a:ext cx="7612352" cy="2839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Pré-treinamento</a:t>
            </a:r>
            <a:endParaRPr b="1"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Masked Language Modeling (MLM)</a:t>
            </a:r>
            <a:endParaRPr b="1"/>
          </a:p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000" y="1203175"/>
            <a:ext cx="6569999" cy="32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Godoy (2019)  </a:t>
            </a:r>
            <a:r>
              <a:rPr lang="pt-BR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BERT | dl-visuals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Next Sentence Prediction (NSP)</a:t>
            </a:r>
            <a:endParaRPr b="1"/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513" y="1076275"/>
            <a:ext cx="7026975" cy="36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Godoy (2019)  </a:t>
            </a:r>
            <a:r>
              <a:rPr lang="pt-BR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BERT | dl-visuals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90250" y="526350"/>
            <a:ext cx="6021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Lexend"/>
                <a:ea typeface="Lexend"/>
                <a:cs typeface="Lexend"/>
                <a:sym typeface="Lexend"/>
              </a:rPr>
              <a:t>BERT</a:t>
            </a:r>
            <a:r>
              <a:rPr lang="pt-BR">
                <a:latin typeface="Lexend"/>
                <a:ea typeface="Lexend"/>
                <a:cs typeface="Lexend"/>
                <a:sym typeface="Lexend"/>
              </a:rPr>
              <a:t> é um modelo flexível para </a:t>
            </a:r>
            <a:r>
              <a:rPr b="1" lang="pt-BR">
                <a:latin typeface="Lexend"/>
                <a:ea typeface="Lexend"/>
                <a:cs typeface="Lexend"/>
                <a:sym typeface="Lexend"/>
              </a:rPr>
              <a:t>adaptações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Adaptação do BERT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913" y="1541450"/>
            <a:ext cx="359092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Tunstall et al. (2022)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Adaptação para classificação de texto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0" y="1080000"/>
            <a:ext cx="4829550" cy="33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Tunstall et al. (2022)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Adaptação para classificação de tokens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0" y="1260000"/>
            <a:ext cx="5027128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311700" y="4464425"/>
            <a:ext cx="85206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Tunstall et al. (2022)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481350" y="1865300"/>
            <a:ext cx="1746000" cy="717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Língua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3699000" y="268950"/>
            <a:ext cx="1746000" cy="71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BERT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698988" y="1484300"/>
            <a:ext cx="1746000" cy="717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Domínio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6814825" y="1865300"/>
            <a:ext cx="1746000" cy="7173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Tarefa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481338" y="2906113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BERTimbau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6823813" y="2777988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accent1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BERT LeNER Br</a:t>
            </a:r>
            <a:endParaRPr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699012" y="2401125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BioBERT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3699000" y="2966737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BERTabaporu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699025" y="3532348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JurisBERT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3699000" y="4097960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GovBERT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481338" y="3532350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BETO</a:t>
            </a:r>
            <a:r>
              <a:rPr lang="pt-BR" sz="1100">
                <a:latin typeface="Proxima Nova"/>
                <a:ea typeface="Proxima Nova"/>
                <a:cs typeface="Proxima Nova"/>
                <a:sym typeface="Proxima Nova"/>
              </a:rPr>
              <a:t> (espanhol)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8" name="Google Shape;188;p28"/>
          <p:cNvCxnSpPr>
            <a:stCxn id="178" idx="1"/>
            <a:endCxn id="177" idx="0"/>
          </p:cNvCxnSpPr>
          <p:nvPr/>
        </p:nvCxnSpPr>
        <p:spPr>
          <a:xfrm flipH="1">
            <a:off x="1354200" y="627600"/>
            <a:ext cx="2344800" cy="1237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8"/>
          <p:cNvCxnSpPr>
            <a:stCxn id="177" idx="2"/>
            <a:endCxn id="181" idx="0"/>
          </p:cNvCxnSpPr>
          <p:nvPr/>
        </p:nvCxnSpPr>
        <p:spPr>
          <a:xfrm rot="5400000">
            <a:off x="1188150" y="2739800"/>
            <a:ext cx="323400" cy="9000"/>
          </a:xfrm>
          <a:prstGeom prst="curvedConnector3">
            <a:avLst>
              <a:gd fmla="val 5001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8"/>
          <p:cNvCxnSpPr>
            <a:stCxn id="181" idx="3"/>
            <a:endCxn id="186" idx="1"/>
          </p:cNvCxnSpPr>
          <p:nvPr/>
        </p:nvCxnSpPr>
        <p:spPr>
          <a:xfrm>
            <a:off x="2209338" y="3140113"/>
            <a:ext cx="1489800" cy="11919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8"/>
          <p:cNvCxnSpPr>
            <a:stCxn id="181" idx="3"/>
            <a:endCxn id="185" idx="1"/>
          </p:cNvCxnSpPr>
          <p:nvPr/>
        </p:nvCxnSpPr>
        <p:spPr>
          <a:xfrm>
            <a:off x="2209338" y="3140113"/>
            <a:ext cx="1489800" cy="6261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8"/>
          <p:cNvSpPr/>
          <p:nvPr/>
        </p:nvSpPr>
        <p:spPr>
          <a:xfrm>
            <a:off x="481338" y="4158575"/>
            <a:ext cx="1728000" cy="4680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mBERT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93" name="Google Shape;193;p28"/>
          <p:cNvCxnSpPr>
            <a:stCxn id="178" idx="3"/>
            <a:endCxn id="180" idx="0"/>
          </p:cNvCxnSpPr>
          <p:nvPr/>
        </p:nvCxnSpPr>
        <p:spPr>
          <a:xfrm>
            <a:off x="5445000" y="627600"/>
            <a:ext cx="2242800" cy="1237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8"/>
          <p:cNvCxnSpPr>
            <a:stCxn id="178" idx="2"/>
            <a:endCxn id="179" idx="0"/>
          </p:cNvCxnSpPr>
          <p:nvPr/>
        </p:nvCxnSpPr>
        <p:spPr>
          <a:xfrm flipH="1" rot="-5400000">
            <a:off x="4323300" y="1234950"/>
            <a:ext cx="498000" cy="6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8"/>
          <p:cNvSpPr/>
          <p:nvPr/>
        </p:nvSpPr>
        <p:spPr>
          <a:xfrm>
            <a:off x="6566425" y="4158575"/>
            <a:ext cx="2242800" cy="4680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Proxima Nova"/>
                <a:ea typeface="Proxima Nova"/>
                <a:cs typeface="Proxima Nova"/>
                <a:sym typeface="Proxima Nova"/>
              </a:rPr>
              <a:t>Sentence Transformers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6823813" y="3468281"/>
            <a:ext cx="1728000" cy="46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BERT Sentiment Analysis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97" name="Google Shape;197;p28"/>
          <p:cNvCxnSpPr>
            <a:stCxn id="185" idx="3"/>
            <a:endCxn id="182" idx="1"/>
          </p:cNvCxnSpPr>
          <p:nvPr/>
        </p:nvCxnSpPr>
        <p:spPr>
          <a:xfrm flipH="1" rot="10800000">
            <a:off x="5427025" y="3011848"/>
            <a:ext cx="1396800" cy="7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BERTimbau</a:t>
            </a:r>
            <a:endParaRPr b="1"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311700" y="1152475"/>
            <a:ext cx="679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>
                <a:solidFill>
                  <a:srgbClr val="000000"/>
                </a:solidFill>
              </a:rPr>
              <a:t>Apresentado no </a:t>
            </a:r>
            <a:r>
              <a:rPr lang="pt-BR">
                <a:solidFill>
                  <a:srgbClr val="000000"/>
                </a:solidFill>
              </a:rPr>
              <a:t>BRACIS por </a:t>
            </a:r>
            <a:r>
              <a:rPr b="1" lang="pt-BR">
                <a:solidFill>
                  <a:srgbClr val="434343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Souza et al. (2020)</a:t>
            </a:r>
            <a:r>
              <a:rPr lang="pt-BR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>
                <a:solidFill>
                  <a:srgbClr val="000000"/>
                </a:solidFill>
              </a:rPr>
              <a:t>Treinado com corpus Portuguese Web Corpus (brWac) + Wikipedia PT, com cerca de 2.7 bi tokens ~= 50Gb.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>
                <a:solidFill>
                  <a:srgbClr val="000000"/>
                </a:solidFill>
              </a:rPr>
              <a:t>Tokenizador WordPiece especificamente treinado com textos em Língua Portuguesa.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>
                <a:solidFill>
                  <a:srgbClr val="000000"/>
                </a:solidFill>
              </a:rPr>
              <a:t>Mantém o treinamento MLM + NSP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lang="pt-BR">
                <a:solidFill>
                  <a:srgbClr val="000000"/>
                </a:solidFill>
              </a:rPr>
              <a:t>Avaliado especificamente em tarefas para o Português.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250" y="793750"/>
            <a:ext cx="2571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RoBERTa - Robustly Optimized BERT Pretraining Approach (Liu, et al. 2019)</a:t>
            </a:r>
            <a:endParaRPr b="1"/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311700" y="1557250"/>
            <a:ext cx="8520600" cy="30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Remoção da tarefa de Next Sentence Prediction (NSP)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Maior volume de dados para pré-treinamento (160 Gb)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Máscara dinâmica dos tokens no treinamento com MLM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Batch size e sequências maiores durante o treinamento (até 8.000 exemplos)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Maior exploração do espaço de hiperparâmetros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AutoNum type="arabicPeriod"/>
            </a:pPr>
            <a:r>
              <a:rPr lang="pt-BR">
                <a:solidFill>
                  <a:srgbClr val="000000"/>
                </a:solidFill>
              </a:rPr>
              <a:t>Mesma arquitetura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250800"/>
            <a:ext cx="8160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ModernBERT (Warner et al. 2024)</a:t>
            </a:r>
            <a:endParaRPr b="1"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11700" y="1389600"/>
            <a:ext cx="3600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Tentativa de trazer melhorias das Arquiteturas Decoders para a Arquitetura Encoder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Rotary Positional Embeddings (ROPE)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GeGLU funções de ativação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Flash Attentions Layers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Sequence Packing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00"/>
              <a:buChar char="●"/>
            </a:pPr>
            <a:r>
              <a:rPr lang="pt-BR" sz="1300">
                <a:solidFill>
                  <a:srgbClr val="000000"/>
                </a:solidFill>
              </a:rPr>
              <a:t>Treinado com conjunto de dados diversos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550" y="1079550"/>
            <a:ext cx="4709600" cy="32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4427700" y="4569000"/>
            <a:ext cx="4260300" cy="3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00"/>
              <a:t>Fonte: Warner et al. (2024) Huggingface’s blog post </a:t>
            </a:r>
            <a:r>
              <a:rPr lang="pt-BR" sz="1000"/>
              <a:t>announcement</a:t>
            </a:r>
            <a:r>
              <a:rPr lang="pt-BR" sz="1000"/>
              <a:t>.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Demonstração</a:t>
            </a:r>
            <a:endParaRPr b="1"/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5698" y="1680350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48" y="1680350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948" y="1869150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773" y="2113325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2258350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8327" y="2571750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373" y="2009175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048" y="2322575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373" y="2322575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348" y="2388600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273" y="2467200"/>
            <a:ext cx="2332250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548" y="2686025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748" y="2258350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173" y="2533300"/>
            <a:ext cx="2332249" cy="38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498" y="2634050"/>
            <a:ext cx="2332249" cy="38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/>
          <p:nvPr/>
        </p:nvSpPr>
        <p:spPr>
          <a:xfrm>
            <a:off x="1048050" y="848650"/>
            <a:ext cx="7335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7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Obrigado!</a:t>
            </a:r>
            <a:endParaRPr b="1" sz="37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</a:t>
            </a:r>
            <a:endParaRPr b="1"/>
          </a:p>
        </p:txBody>
      </p:sp>
      <p:sp>
        <p:nvSpPr>
          <p:cNvPr id="254" name="Google Shape;25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311700" y="1000075"/>
            <a:ext cx="8520600" cy="4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Alammar, J.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Visual Guide to Using BERT for the First Time.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https://jalammar.github.io/a-visual-guide-to-using-bert-for-the-first-time/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junho 2025.</a:t>
            </a:r>
            <a:b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Alammar, J.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Illustrated BERT, ELMo, and co. (How NLP Cracked Transfer Learning).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https://jalammar.github.io/illustrated-bert/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junho 2025.</a:t>
            </a:r>
            <a:b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Cañete, J., Chaperon, G., Fuentes, R., Ho, J.-H., Kang, H., Pérez, J.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(2020).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Spanish Pre-Trained BERT Model and Evaluation Data.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In: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PML4DC at ICLR 2020.</a:t>
            </a:r>
            <a:b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Costa, P. B., Pavan, M. C., Santos, W. R., Silva, S. C., Paraboni, I.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(2023). BERTabaporu: Assessing a Genre-Specific Language Model for Portuguese NLP. In: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Proceedings of the 14th International Conference on Recent Advances in Natural Language Processing (RANLP 2023)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Varna, Bulgaria. pp. 217–223.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https://aclanthology.org/2023.ranlp-1.24/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Godoy, D. V.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(2019).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with PyTorch Step-by-Step: A Beginner’s Guide.</a:t>
            </a:r>
            <a:b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Godoy, D. V.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 | dl-visuals.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https://dvgodoy.github.io/dl-visuals/BERT/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Acesso em: junho 2025.</a:t>
            </a:r>
            <a:b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He, P., Liu, X., Gao, J., Chen, W.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(2021).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DeBERTa: Decoding-Enhanced BERT with Disentangled Attention.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In: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International Conference on Learning Representations (ICLR 2021).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https://www.microsoft.com/en-us/research/publication/deberta-decoding-enhanced-bert-with-disentangled-attention-2/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</a:t>
            </a:r>
            <a:endParaRPr b="1"/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311700" y="1000075"/>
            <a:ext cx="8520600" cy="4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Lee, J., Yoon, W., Kim, S., Kim, D., Kim, S., So, C. H., Kang, J.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(2020). BioBERT: A pre-trained biomedical language representation model for biomedical text mining.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Bioinformatics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36(4), 1234–1240.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https://doi.org/10.1093/bioinformatics/btz682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Liu, Y., Ott, M., Goyal, N., Du, J., Joshi, M., Chen, D., Levy, O., Lewis, M., Zettlemoyer, L., Stoyanov, V.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(2019).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RoBERTa: A Robustly Optimized BERT Pretraining Approach.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arXiv preprint arXiv:1907.11692.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https://arxiv.org/abs/1907.11692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Reimers, N., Gurevych, I.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(2019). Sentence-BERT: Sentence Embeddings using Siamese BERT-Networks. In: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Proceedings of the 2019 Conference on Empirical Methods in Natural Language Processing (EMNLP).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http://arxiv.org/abs/1908.10084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Silva, M. O., Oliveira, G. P., Costa, L. G. L., Pappa, G. L.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(2025). GovBERT-BR: A BERT-Based Language Model for Brazilian Portuguese Governmental Data. In: Paes, A., Verri, F.A.N. (eds)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Systems. BRACIS 2024.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Lecture Notes in Computer Science, vol 15413. Springer, Cham.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https://doi.org/10.1007/978-3-031-79032-4_2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Silveira, R., Ponte, C., Almeida, V., Pinheiro, V., Furtado, V.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(2023). LegalBert-pt: A Pretrained Language Model for the Brazilian Portuguese Legal Domain. In: Naldi, M.C., Bianchi, R.A.C. (eds)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Systems. BRACIS 2023.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Lecture Notes in Computer Science, vol 14197. Springer, Cham.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https://doi.org/10.1007/978-3-031-45392-2_18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Souza, F., Nogueira, R., Lotufo, R.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(2020). BERTimbau: Pretrained BERT Models for Brazilian Portuguese. In: Cerri, R., Prati, R.C. (eds)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Systems. BRACIS 2020.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Lecture Notes in Computer Science, vol 12319. Springer, Cham.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https://doi.org/10.1007/978-3-030-61377-8_28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Referências</a:t>
            </a:r>
            <a:endParaRPr b="1"/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1000075"/>
            <a:ext cx="8520600" cy="4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Souza, F. D., Filho, J. B. O. e S.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(2022). BERT for Sentiment Analysis: Pre-trained and Fine-Tuned Alternatives. In: Pinheiro, V., et al.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Computational Processing of the Portuguese Language. PROPOR 2022.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Lecture Notes in Computer Science, vol 13208. Springer, Cham.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https://doi.org/10.1007/978-3-030-98305-5_20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Tunstall, L., von Werra, L., Wolf, T.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(2022).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Natural Language Processing with Transformers: Building Language Applications with Hugging Face.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O'Reilly Media.</a:t>
            </a:r>
            <a:b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Vaswani, A., Shazeer, N., Parmar, N., Uszkoreit, J., Jones, L., Gomez, A. N., Kaiser, L., Polosukhin, I.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(2023).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 is All You Need.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arXiv preprint arXiv:1706.03762.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https://arxiv.org/abs/1706.03762</a:t>
            </a:r>
            <a:b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</a:b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Warner, B., Chaffin, A., Clavié, B., Weller, O., Hallström, O., Taghadouini, S., Gallagher, A., Biswas, R., Ladhak, F., Aarsen, T., Cooper, N., Adams, G., Howard, J., Poli, I.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(2024).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Smarter, Better, Faster, Longer: A Modern Bidirectional Encoder for Fast, Memory Efficient, and Long Context Finetuning and Inference.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arXiv preprint arXiv:2412.13663. Disponível em:</a:t>
            </a:r>
            <a:r>
              <a:rPr lang="pt-BR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https://arxiv.org/abs/2412.13663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Devlin, J.; Chang, M.-W.; Lee, K.; Toutanova, K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BERT: Pre-training of Deep Bidirectional Transformers for Language Understanding.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In: </a:t>
            </a:r>
            <a:r>
              <a:rPr i="1"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Proceedings of the 2019 Conference of the North American Chapter of the Association for Computational Linguistics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2019. p. 4171–4186.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